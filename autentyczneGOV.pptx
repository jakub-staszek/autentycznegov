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38D3C-22F6-4414-A37D-97B4EE687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94880-8B69-4858-80E1-99213E39B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27237-EC2E-4694-A32F-FFDD2E9BA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1D40-D002-4B2C-A63D-FFC67C9DFE6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D79F9-8C44-4D94-8A8F-AC539C43E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AB75E-B67E-4DC5-BCE0-33F3EBFF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62CA-97C2-4C28-89C7-6F63455EC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83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72FD4-FF17-4612-913C-2E71CBD08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B4EE2-CD96-4E0E-B570-30A79AB84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5B49A-29C8-4415-8A34-EDC5BE750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1D40-D002-4B2C-A63D-FFC67C9DFE6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457E5-D684-4A6D-900B-7EC5D7160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58725-2A5F-4215-91F0-79C6464BA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62CA-97C2-4C28-89C7-6F63455EC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05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4E86B-2F99-4C4E-A9F5-53BF11E3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73187-11A2-41C8-BFDB-D308733AE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D49A0-2421-4E11-8A4B-8EAB03270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1D40-D002-4B2C-A63D-FFC67C9DFE6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CCEA5-98B8-493E-B4C9-4CD900ABB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84C0E-DC97-4E49-87F3-40B07EE8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62CA-97C2-4C28-89C7-6F63455EC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76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E09B-3783-453A-B1EE-96B3F88BB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D4FDA-1A50-4764-BC1A-18BC165FE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4C613-7096-4AD9-A1F6-9F03773D3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8A2C9-855E-408D-BD40-25B7832A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1D40-D002-4B2C-A63D-FFC67C9DFE6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7C375-66B0-46B4-A3CF-1AF46B484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A2BA7-C164-4008-859F-65A640E1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62CA-97C2-4C28-89C7-6F63455EC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52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24A68-8F3A-4854-B3FA-6AE5354BD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E41FB-C98A-4B9A-ABAB-49B0BAB6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E9FC6-7D06-496B-ADC0-1532E2288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3CF36-394B-4B60-B26D-B4CBE6DE8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13706C-27CB-42D5-BF9F-855FEF916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7C3D09-05A0-48F0-AD7C-DD92CBE89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1D40-D002-4B2C-A63D-FFC67C9DFE6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4F2E4-8698-4DA2-ADA3-FF271927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D2D92-9DC7-4DE6-B8F2-47DA3B8F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62CA-97C2-4C28-89C7-6F63455EC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810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647BB-C811-43AE-A9AF-66D6F0AB6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29D543-063A-4A3F-B80C-2AC763551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1D40-D002-4B2C-A63D-FFC67C9DFE6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8C7312-564B-4CBF-B6F4-6080FF62A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A0A1B-3853-40FD-BB63-ADC80140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62CA-97C2-4C28-89C7-6F63455EC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08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39F1AA-9763-4006-AC38-F7C4A96E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1D40-D002-4B2C-A63D-FFC67C9DFE6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C9993-F17A-46C0-94C5-476B6D9B6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0E29C-3B3B-47C5-AA9F-B33CEFA1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62CA-97C2-4C28-89C7-6F63455EC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943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F036-18D0-446C-91AE-9FA72968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18213-21BD-41D1-A001-3E054E6A2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439E-D080-44C2-B95E-7FFF2B7FD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EAD79-0C2A-4212-9081-59558817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1D40-D002-4B2C-A63D-FFC67C9DFE6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64663-4B3E-4A3C-AC67-423FB47C4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A80D3-F02E-46EA-B20B-90CE14982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62CA-97C2-4C28-89C7-6F63455EC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181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AAF6D-0CBF-40A2-9BB9-6629DA3B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38FB1D-BEF3-446A-B87A-A4504660E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840C3-BF45-4328-A2C0-CA104425B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89326-1440-48FC-B412-EBE5E84A1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1D40-D002-4B2C-A63D-FFC67C9DFE6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65E6A-5F6E-4059-8138-E7460150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5C434-8877-4494-8D5F-2632699D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62CA-97C2-4C28-89C7-6F63455EC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929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4BC8A-D262-4201-8737-A45743D5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E8992-9CB4-4427-BEA9-0BB556CFF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30938-895F-447D-AF71-749407D3C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1D40-D002-4B2C-A63D-FFC67C9DFE6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E283B-6834-401A-B50D-6E2A7D15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85E96-F259-41BD-91E6-C9F022F7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62CA-97C2-4C28-89C7-6F63455EC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089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2C503D-24B2-4A4C-83DE-912C482BB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9B127-FA3F-4AE5-ACEF-787DD8AFB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EBC42-93F2-4854-B9CD-9BDC5D335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1D40-D002-4B2C-A63D-FFC67C9DFE6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3D197-B48E-44DD-893D-AAE8D4D3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D7EC1-DBA1-42A3-9549-791095BA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62CA-97C2-4C28-89C7-6F63455EC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9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C44E4-E809-4B36-A3BB-6E8335EE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BA4A9-496A-4947-AE3B-652B4084C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E4E62-B410-4EE5-86B8-2D1F7A558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F1D40-D002-4B2C-A63D-FFC67C9DFE6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2FC6A-598B-406C-9A22-1D3B7650E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D4FDD-60FF-4705-879D-914FD1D80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162CA-97C2-4C28-89C7-6F63455EC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82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9925-72A4-4771-B83E-7D1AA5745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>
                <a:latin typeface="Bahnschrift" panose="020B0502040204020203" pitchFamily="34" charset="0"/>
              </a:rPr>
              <a:t>autentyczne</a:t>
            </a:r>
            <a:r>
              <a:rPr lang="en-GB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GOV</a:t>
            </a:r>
            <a:r>
              <a:rPr lang="en-GB" dirty="0">
                <a:latin typeface="Bahnschrift" panose="020B0502040204020203" pitchFamily="34" charset="0"/>
              </a:rPr>
              <a:t> 1.0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FE9715-1856-4CE0-A59F-E76C7CD6AE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Wyzwanie</a:t>
            </a:r>
            <a:r>
              <a:rPr lang="en-GB" dirty="0"/>
              <a:t>: </a:t>
            </a:r>
            <a:r>
              <a:rPr lang="en-GB" b="1" dirty="0" err="1"/>
              <a:t>Prawda</a:t>
            </a:r>
            <a:r>
              <a:rPr lang="en-GB" b="1" dirty="0"/>
              <a:t> w </a:t>
            </a:r>
            <a:r>
              <a:rPr lang="en-GB" b="1" dirty="0" err="1"/>
              <a:t>sieci</a:t>
            </a:r>
            <a:endParaRPr lang="en-GB" b="1" dirty="0"/>
          </a:p>
          <a:p>
            <a:r>
              <a:rPr lang="en-GB" dirty="0" err="1"/>
              <a:t>Zespół</a:t>
            </a:r>
            <a:r>
              <a:rPr lang="en-GB" dirty="0"/>
              <a:t>: </a:t>
            </a:r>
            <a:r>
              <a:rPr lang="en-GB" b="1" dirty="0"/>
              <a:t>                     .</a:t>
            </a:r>
          </a:p>
        </p:txBody>
      </p:sp>
      <p:pic>
        <p:nvPicPr>
          <p:cNvPr id="1036" name="Picture 12" descr="Resort finansów partnerem strategicznym na HackNation w Bydgoszczy. Z KAS  dwa zadania dla uczestników! - Ministerstwo Finansów - Krajowa  Administracja Skarbowa - Portal Gov.pl">
            <a:extLst>
              <a:ext uri="{FF2B5EF4-FFF2-40B4-BE49-F238E27FC236}">
                <a16:creationId xmlns:a16="http://schemas.microsoft.com/office/drawing/2014/main" id="{C73E682B-80C4-4C1D-B1F2-7806F5973B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15" t="7037" r="23015" b="46058"/>
          <a:stretch/>
        </p:blipFill>
        <p:spPr bwMode="auto">
          <a:xfrm>
            <a:off x="5145741" y="5856383"/>
            <a:ext cx="1900518" cy="69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BDC09D-BADA-4617-A055-3300D4E622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632"/>
          <a:stretch/>
        </p:blipFill>
        <p:spPr>
          <a:xfrm>
            <a:off x="5934633" y="3961072"/>
            <a:ext cx="1703296" cy="54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2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9AF9-0416-4382-9527-C156ECE0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 err="1">
                <a:latin typeface="Bahnschrift" panose="020B0502040204020203" pitchFamily="34" charset="0"/>
              </a:rPr>
              <a:t>Użyte</a:t>
            </a:r>
            <a:r>
              <a:rPr lang="en-GB" sz="4400" dirty="0">
                <a:latin typeface="Bahnschrift" panose="020B0502040204020203" pitchFamily="34" charset="0"/>
              </a:rPr>
              <a:t> </a:t>
            </a:r>
            <a:r>
              <a:rPr lang="en-GB" sz="4400" dirty="0" err="1">
                <a:latin typeface="Bahnschrift" panose="020B0502040204020203" pitchFamily="34" charset="0"/>
              </a:rPr>
              <a:t>technologie</a:t>
            </a:r>
            <a:r>
              <a:rPr lang="en-GB" sz="4400" dirty="0">
                <a:latin typeface="Bahnschrift" panose="020B0502040204020203" pitchFamily="34" charset="0"/>
              </a:rPr>
              <a:t>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112AF-B7E4-40BF-A6D7-E3D139E76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Frontend</a:t>
            </a:r>
          </a:p>
          <a:p>
            <a:pPr lvl="1"/>
            <a:r>
              <a:rPr lang="en-GB" dirty="0"/>
              <a:t>Vite.js (React.js +  typescript)</a:t>
            </a:r>
          </a:p>
          <a:p>
            <a:pPr lvl="1"/>
            <a:r>
              <a:rPr lang="en-GB" dirty="0"/>
              <a:t>React Native</a:t>
            </a:r>
          </a:p>
          <a:p>
            <a:r>
              <a:rPr lang="en-GB" dirty="0"/>
              <a:t>Backend</a:t>
            </a:r>
          </a:p>
          <a:p>
            <a:pPr lvl="1"/>
            <a:r>
              <a:rPr lang="en-GB" dirty="0"/>
              <a:t>Redis</a:t>
            </a:r>
          </a:p>
          <a:p>
            <a:pPr lvl="1"/>
            <a:r>
              <a:rPr lang="en-GB" dirty="0"/>
              <a:t>Docker</a:t>
            </a:r>
          </a:p>
        </p:txBody>
      </p:sp>
      <p:pic>
        <p:nvPicPr>
          <p:cNvPr id="3074" name="Picture 2" descr="Vite (software) - Wikipedia">
            <a:extLst>
              <a:ext uri="{FF2B5EF4-FFF2-40B4-BE49-F238E27FC236}">
                <a16:creationId xmlns:a16="http://schemas.microsoft.com/office/drawing/2014/main" id="{9D375457-3E0D-447B-B9D9-005D1AFE0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014" y="2035613"/>
            <a:ext cx="2136941" cy="210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dis Explained in 5 Minutes [Ultimate Introduction Guide]">
            <a:extLst>
              <a:ext uri="{FF2B5EF4-FFF2-40B4-BE49-F238E27FC236}">
                <a16:creationId xmlns:a16="http://schemas.microsoft.com/office/drawing/2014/main" id="{92E96840-F845-453D-B940-594CA5F03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5" t="31728" r="18155" b="31728"/>
          <a:stretch/>
        </p:blipFill>
        <p:spPr bwMode="auto">
          <a:xfrm>
            <a:off x="7628521" y="438206"/>
            <a:ext cx="3627077" cy="1387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Docker: Introduction">
            <a:extLst>
              <a:ext uri="{FF2B5EF4-FFF2-40B4-BE49-F238E27FC236}">
                <a16:creationId xmlns:a16="http://schemas.microsoft.com/office/drawing/2014/main" id="{245BA310-5CCD-43BD-B82E-FE0C71A88A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6" t="8748" r="22696" b="10864"/>
          <a:stretch/>
        </p:blipFill>
        <p:spPr bwMode="auto">
          <a:xfrm>
            <a:off x="7628521" y="4079458"/>
            <a:ext cx="2977789" cy="230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TypeScript - Wikipedia">
            <a:extLst>
              <a:ext uri="{FF2B5EF4-FFF2-40B4-BE49-F238E27FC236}">
                <a16:creationId xmlns:a16="http://schemas.microsoft.com/office/drawing/2014/main" id="{9BE2B6D3-1F98-4A3E-B098-30C5C95B7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299" y="4547491"/>
            <a:ext cx="1489415" cy="148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React.js – Wikipedia, wolna encyklopedia">
            <a:extLst>
              <a:ext uri="{FF2B5EF4-FFF2-40B4-BE49-F238E27FC236}">
                <a16:creationId xmlns:a16="http://schemas.microsoft.com/office/drawing/2014/main" id="{9872A1D5-7B93-46D5-863F-92BBD6B4E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147" y="2352303"/>
            <a:ext cx="1810808" cy="1648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612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9AF9-0416-4382-9527-C156ECE0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 err="1">
                <a:latin typeface="Bahnschrift" panose="020B0502040204020203" pitchFamily="34" charset="0"/>
              </a:rPr>
              <a:t>Fałszywe</a:t>
            </a:r>
            <a:r>
              <a:rPr lang="en-GB" sz="4400" dirty="0">
                <a:latin typeface="Bahnschrift" panose="020B0502040204020203" pitchFamily="34" charset="0"/>
              </a:rPr>
              <a:t> </a:t>
            </a:r>
            <a:r>
              <a:rPr lang="en-GB" sz="4400" dirty="0" err="1">
                <a:latin typeface="Bahnschrift" panose="020B0502040204020203" pitchFamily="34" charset="0"/>
              </a:rPr>
              <a:t>strony</a:t>
            </a:r>
            <a:r>
              <a:rPr lang="en-GB" dirty="0">
                <a:latin typeface="Bahnschrift" panose="020B0502040204020203" pitchFamily="34" charset="0"/>
              </a:rPr>
              <a:t> =</a:t>
            </a:r>
            <a:r>
              <a:rPr lang="en-GB" sz="4400" dirty="0">
                <a:latin typeface="Bahnschrift" panose="020B0502040204020203" pitchFamily="34" charset="0"/>
              </a:rPr>
              <a:t> </a:t>
            </a:r>
            <a:r>
              <a:rPr lang="en-GB" sz="4400" dirty="0" err="1">
                <a:latin typeface="Bahnschrift" panose="020B0502040204020203" pitchFamily="34" charset="0"/>
              </a:rPr>
              <a:t>realne</a:t>
            </a:r>
            <a:r>
              <a:rPr lang="en-GB" sz="4400" dirty="0">
                <a:latin typeface="Bahnschrift" panose="020B0502040204020203" pitchFamily="34" charset="0"/>
              </a:rPr>
              <a:t> </a:t>
            </a:r>
            <a:r>
              <a:rPr lang="en-GB" sz="4400" dirty="0" err="1">
                <a:latin typeface="Bahnschrift" panose="020B0502040204020203" pitchFamily="34" charset="0"/>
              </a:rPr>
              <a:t>problemy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112AF-B7E4-40BF-A6D7-E3D139E76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600" dirty="0"/>
              <a:t>Problem:</a:t>
            </a:r>
          </a:p>
          <a:p>
            <a:r>
              <a:rPr lang="pl-PL" dirty="0"/>
              <a:t>Zaawansowane ataki phishingowe: strony identyczne z oryginałami (gov.pl), wyłudzanie danych uwierzytelniających (ePUAP, Profil Zaufany)</a:t>
            </a:r>
            <a:endParaRPr lang="en-GB" dirty="0"/>
          </a:p>
          <a:p>
            <a:r>
              <a:rPr lang="pl-PL" dirty="0"/>
              <a:t>Brak prostego narzędzia dla obywatela do natychmiastowej weryfikacji</a:t>
            </a:r>
            <a:endParaRPr lang="en-GB" dirty="0"/>
          </a:p>
          <a:p>
            <a:pPr marL="0" indent="0">
              <a:buNone/>
            </a:pPr>
            <a:r>
              <a:rPr lang="en-GB" sz="3600" dirty="0" err="1"/>
              <a:t>Cel</a:t>
            </a:r>
            <a:r>
              <a:rPr lang="en-GB" sz="3600" dirty="0"/>
              <a:t>: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 err="1"/>
              <a:t>Dodanie</a:t>
            </a:r>
            <a:r>
              <a:rPr lang="en-GB" dirty="0"/>
              <a:t> </a:t>
            </a:r>
            <a:r>
              <a:rPr lang="en-GB" dirty="0" err="1"/>
              <a:t>możliwości</a:t>
            </a:r>
            <a:r>
              <a:rPr lang="en-GB" dirty="0"/>
              <a:t> </a:t>
            </a:r>
            <a:r>
              <a:rPr lang="en-GB" dirty="0" err="1"/>
              <a:t>sprawdzenia</a:t>
            </a:r>
            <a:r>
              <a:rPr lang="en-GB" dirty="0"/>
              <a:t> </a:t>
            </a:r>
            <a:r>
              <a:rPr lang="en-GB" dirty="0" err="1"/>
              <a:t>autentyczności</a:t>
            </a:r>
            <a:r>
              <a:rPr lang="en-GB" dirty="0"/>
              <a:t> </a:t>
            </a:r>
            <a:r>
              <a:rPr lang="en-GB" dirty="0" err="1"/>
              <a:t>strony</a:t>
            </a:r>
            <a:r>
              <a:rPr lang="en-GB" dirty="0"/>
              <a:t> </a:t>
            </a:r>
            <a:r>
              <a:rPr lang="en-GB" dirty="0" err="1"/>
              <a:t>rządowej</a:t>
            </a:r>
            <a:r>
              <a:rPr lang="en-GB" dirty="0"/>
              <a:t> </a:t>
            </a:r>
            <a:r>
              <a:rPr lang="en-GB" dirty="0" err="1"/>
              <a:t>poprzez</a:t>
            </a:r>
            <a:r>
              <a:rPr lang="en-GB" dirty="0"/>
              <a:t> </a:t>
            </a:r>
            <a:r>
              <a:rPr lang="en-GB" dirty="0" err="1"/>
              <a:t>zeskanowanie</a:t>
            </a:r>
            <a:r>
              <a:rPr lang="en-GB" dirty="0"/>
              <a:t> </a:t>
            </a:r>
            <a:r>
              <a:rPr lang="en-GB" dirty="0" err="1"/>
              <a:t>kodu</a:t>
            </a:r>
            <a:r>
              <a:rPr lang="en-GB" dirty="0"/>
              <a:t> QR </a:t>
            </a:r>
            <a:r>
              <a:rPr lang="en-GB" dirty="0" err="1"/>
              <a:t>przy</a:t>
            </a:r>
            <a:r>
              <a:rPr lang="en-GB" dirty="0"/>
              <a:t> </a:t>
            </a:r>
            <a:r>
              <a:rPr lang="en-GB" dirty="0" err="1"/>
              <a:t>użyciu</a:t>
            </a:r>
            <a:r>
              <a:rPr lang="en-GB" dirty="0"/>
              <a:t> </a:t>
            </a:r>
            <a:r>
              <a:rPr lang="en-GB" dirty="0" err="1"/>
              <a:t>mObywatela</a:t>
            </a:r>
            <a:endParaRPr lang="en-GB" dirty="0"/>
          </a:p>
          <a:p>
            <a:pPr marL="0" indent="0">
              <a:buNone/>
            </a:pP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582144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9AF9-0416-4382-9527-C156ECE0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>
                <a:latin typeface="Bahnschrift" panose="020B0502040204020203" pitchFamily="34" charset="0"/>
              </a:rPr>
              <a:t>Flow </a:t>
            </a:r>
            <a:r>
              <a:rPr lang="en-GB" sz="4400" dirty="0" err="1">
                <a:latin typeface="Bahnschrift" panose="020B0502040204020203" pitchFamily="34" charset="0"/>
              </a:rPr>
              <a:t>scenariusza</a:t>
            </a:r>
            <a:r>
              <a:rPr lang="en-GB" sz="4400" dirty="0">
                <a:latin typeface="Bahnschrift" panose="020B0502040204020203" pitchFamily="34" charset="0"/>
              </a:rPr>
              <a:t> </a:t>
            </a:r>
            <a:r>
              <a:rPr lang="en-GB" sz="4400" dirty="0" err="1">
                <a:latin typeface="Bahnschrift" panose="020B0502040204020203" pitchFamily="34" charset="0"/>
              </a:rPr>
              <a:t>pozytywnego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7AC217-B1A2-407E-9F2F-81F31219D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3435" y="1482913"/>
            <a:ext cx="4186517" cy="415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2. </a:t>
            </a:r>
            <a:r>
              <a:rPr lang="en-GB" sz="2000" dirty="0" err="1"/>
              <a:t>Klika</a:t>
            </a:r>
            <a:r>
              <a:rPr lang="en-GB" sz="2000" dirty="0"/>
              <a:t> w </a:t>
            </a:r>
            <a:r>
              <a:rPr lang="en-GB" sz="2000" dirty="0" err="1"/>
              <a:t>przycisk</a:t>
            </a:r>
            <a:r>
              <a:rPr lang="en-GB" sz="2000" dirty="0"/>
              <a:t> </a:t>
            </a:r>
            <a:r>
              <a:rPr lang="en-GB" sz="2000" dirty="0" err="1"/>
              <a:t>sprawdzający</a:t>
            </a:r>
            <a:r>
              <a:rPr lang="en-GB" sz="2000" dirty="0"/>
              <a:t> </a:t>
            </a:r>
            <a:r>
              <a:rPr lang="en-GB" sz="2000" dirty="0" err="1"/>
              <a:t>stronę</a:t>
            </a:r>
            <a:endParaRPr lang="en-GB" sz="20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BE18212-A780-4716-97A9-66D675415D6F}"/>
              </a:ext>
            </a:extLst>
          </p:cNvPr>
          <p:cNvSpPr txBox="1">
            <a:spLocks/>
          </p:cNvSpPr>
          <p:nvPr/>
        </p:nvSpPr>
        <p:spPr>
          <a:xfrm>
            <a:off x="372036" y="1482913"/>
            <a:ext cx="3581400" cy="415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1. </a:t>
            </a:r>
            <a:r>
              <a:rPr lang="en-GB" sz="2000" dirty="0" err="1"/>
              <a:t>Użytkownik</a:t>
            </a:r>
            <a:r>
              <a:rPr lang="en-GB" sz="2000" dirty="0"/>
              <a:t> </a:t>
            </a:r>
            <a:r>
              <a:rPr lang="en-GB" sz="2000" dirty="0" err="1"/>
              <a:t>wchodzi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stronę</a:t>
            </a:r>
            <a:endParaRPr lang="en-GB" sz="2000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DE28B18-EB65-48CD-AA9B-BB0EECCD6CC1}"/>
              </a:ext>
            </a:extLst>
          </p:cNvPr>
          <p:cNvSpPr txBox="1">
            <a:spLocks/>
          </p:cNvSpPr>
          <p:nvPr/>
        </p:nvSpPr>
        <p:spPr>
          <a:xfrm>
            <a:off x="8139952" y="1482913"/>
            <a:ext cx="4186517" cy="415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3. </a:t>
            </a:r>
            <a:r>
              <a:rPr lang="en-GB" sz="2000" dirty="0" err="1"/>
              <a:t>Otwiera</a:t>
            </a:r>
            <a:r>
              <a:rPr lang="en-GB" sz="2000" dirty="0"/>
              <a:t> </a:t>
            </a:r>
            <a:r>
              <a:rPr lang="en-GB" sz="2000" dirty="0" err="1"/>
              <a:t>mObywatela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telefonie</a:t>
            </a:r>
            <a:endParaRPr lang="en-GB" sz="2000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6861649C-FB7A-4187-885B-F66FB339BDB7}"/>
              </a:ext>
            </a:extLst>
          </p:cNvPr>
          <p:cNvSpPr txBox="1">
            <a:spLocks/>
          </p:cNvSpPr>
          <p:nvPr/>
        </p:nvSpPr>
        <p:spPr>
          <a:xfrm>
            <a:off x="372035" y="4125446"/>
            <a:ext cx="5302623" cy="4155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4. </a:t>
            </a:r>
            <a:r>
              <a:rPr lang="en-GB" sz="2000" dirty="0" err="1"/>
              <a:t>Wchodzi</a:t>
            </a:r>
            <a:r>
              <a:rPr lang="en-GB" sz="2000" dirty="0"/>
              <a:t> w </a:t>
            </a:r>
            <a:r>
              <a:rPr lang="en-GB" sz="2000" dirty="0" err="1"/>
              <a:t>moduł</a:t>
            </a:r>
            <a:r>
              <a:rPr lang="en-GB" sz="2000" dirty="0"/>
              <a:t> </a:t>
            </a:r>
            <a:r>
              <a:rPr lang="en-GB" sz="2000" dirty="0" err="1"/>
              <a:t>weryfikacji</a:t>
            </a:r>
            <a:r>
              <a:rPr lang="en-GB" sz="2000" dirty="0"/>
              <a:t> </a:t>
            </a:r>
            <a:r>
              <a:rPr lang="en-GB" sz="2000" dirty="0" err="1"/>
              <a:t>i</a:t>
            </a:r>
            <a:r>
              <a:rPr lang="en-GB" sz="2000" dirty="0"/>
              <a:t> </a:t>
            </a:r>
            <a:r>
              <a:rPr lang="en-GB" sz="2000" dirty="0" err="1"/>
              <a:t>skanuje</a:t>
            </a:r>
            <a:r>
              <a:rPr lang="en-GB" sz="2000" dirty="0"/>
              <a:t> </a:t>
            </a:r>
            <a:r>
              <a:rPr lang="en-GB" sz="2000" dirty="0" err="1"/>
              <a:t>kod</a:t>
            </a:r>
            <a:r>
              <a:rPr lang="en-GB" sz="2000" dirty="0"/>
              <a:t> QR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AB6979E-14B6-4F99-B561-95EA59ACB12A}"/>
              </a:ext>
            </a:extLst>
          </p:cNvPr>
          <p:cNvSpPr txBox="1">
            <a:spLocks/>
          </p:cNvSpPr>
          <p:nvPr/>
        </p:nvSpPr>
        <p:spPr>
          <a:xfrm>
            <a:off x="5791199" y="4125446"/>
            <a:ext cx="6131860" cy="415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5. </a:t>
            </a:r>
            <a:r>
              <a:rPr lang="en-GB" sz="2000" dirty="0" err="1"/>
              <a:t>Użytkownik</a:t>
            </a:r>
            <a:r>
              <a:rPr lang="en-GB" sz="2000" dirty="0"/>
              <a:t> </a:t>
            </a:r>
            <a:r>
              <a:rPr lang="en-GB" sz="2000" dirty="0" err="1"/>
              <a:t>dostaje</a:t>
            </a:r>
            <a:r>
              <a:rPr lang="en-GB" sz="2000" dirty="0"/>
              <a:t> </a:t>
            </a:r>
            <a:r>
              <a:rPr lang="en-GB" sz="2000" dirty="0" err="1"/>
              <a:t>weryfikacje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stronie</a:t>
            </a:r>
            <a:r>
              <a:rPr lang="en-GB" sz="2000" dirty="0"/>
              <a:t> </a:t>
            </a:r>
            <a:r>
              <a:rPr lang="en-GB" sz="2000" dirty="0" err="1"/>
              <a:t>i</a:t>
            </a:r>
            <a:r>
              <a:rPr lang="en-GB" sz="2000" dirty="0"/>
              <a:t> w </a:t>
            </a:r>
            <a:r>
              <a:rPr lang="en-GB" sz="2000" dirty="0" err="1"/>
              <a:t>telefonie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3684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9AF9-0416-4382-9527-C156ECE0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>
                <a:latin typeface="Bahnschrift" panose="020B0502040204020203" pitchFamily="34" charset="0"/>
              </a:rPr>
              <a:t>Flow </a:t>
            </a:r>
            <a:r>
              <a:rPr lang="en-GB" sz="4400" dirty="0" err="1">
                <a:latin typeface="Bahnschrift" panose="020B0502040204020203" pitchFamily="34" charset="0"/>
              </a:rPr>
              <a:t>scenariusza</a:t>
            </a:r>
            <a:r>
              <a:rPr lang="en-GB" sz="4400" dirty="0">
                <a:latin typeface="Bahnschrift" panose="020B0502040204020203" pitchFamily="34" charset="0"/>
              </a:rPr>
              <a:t> </a:t>
            </a:r>
            <a:r>
              <a:rPr lang="en-GB" sz="4400" dirty="0" err="1">
                <a:latin typeface="Bahnschrift" panose="020B0502040204020203" pitchFamily="34" charset="0"/>
              </a:rPr>
              <a:t>negatywnego</a:t>
            </a:r>
            <a:endParaRPr lang="en-GB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5C35B84-B199-4D71-9EE8-11B3F812F8C2}"/>
              </a:ext>
            </a:extLst>
          </p:cNvPr>
          <p:cNvSpPr txBox="1">
            <a:spLocks/>
          </p:cNvSpPr>
          <p:nvPr/>
        </p:nvSpPr>
        <p:spPr>
          <a:xfrm>
            <a:off x="3953435" y="1482913"/>
            <a:ext cx="4186517" cy="415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/>
              <a:t>2. Klika w przycisk sprawdzający stronę</a:t>
            </a:r>
            <a:endParaRPr lang="en-GB" sz="20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4AAD736-4B4C-4021-9AB5-397366804CD0}"/>
              </a:ext>
            </a:extLst>
          </p:cNvPr>
          <p:cNvSpPr txBox="1">
            <a:spLocks/>
          </p:cNvSpPr>
          <p:nvPr/>
        </p:nvSpPr>
        <p:spPr>
          <a:xfrm>
            <a:off x="372036" y="1482913"/>
            <a:ext cx="3581400" cy="415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1. </a:t>
            </a:r>
            <a:r>
              <a:rPr lang="en-GB" sz="2000" dirty="0" err="1"/>
              <a:t>Użytkownik</a:t>
            </a:r>
            <a:r>
              <a:rPr lang="en-GB" sz="2000" dirty="0"/>
              <a:t> </a:t>
            </a:r>
            <a:r>
              <a:rPr lang="en-GB" sz="2000" dirty="0" err="1"/>
              <a:t>wchodzi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stronę</a:t>
            </a:r>
            <a:endParaRPr lang="en-GB" sz="2000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E0DF1D1-A266-465C-9454-BF282767A993}"/>
              </a:ext>
            </a:extLst>
          </p:cNvPr>
          <p:cNvSpPr txBox="1">
            <a:spLocks/>
          </p:cNvSpPr>
          <p:nvPr/>
        </p:nvSpPr>
        <p:spPr>
          <a:xfrm>
            <a:off x="8139952" y="1482913"/>
            <a:ext cx="4186517" cy="415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3. </a:t>
            </a:r>
            <a:r>
              <a:rPr lang="en-GB" sz="2000" dirty="0" err="1"/>
              <a:t>Otwiera</a:t>
            </a:r>
            <a:r>
              <a:rPr lang="en-GB" sz="2000" dirty="0"/>
              <a:t> </a:t>
            </a:r>
            <a:r>
              <a:rPr lang="en-GB" sz="2000" dirty="0" err="1"/>
              <a:t>mObywatela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telefonie</a:t>
            </a:r>
            <a:endParaRPr lang="en-GB" sz="2000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12A92F8-1822-43BF-B177-725CDBD58917}"/>
              </a:ext>
            </a:extLst>
          </p:cNvPr>
          <p:cNvSpPr txBox="1">
            <a:spLocks/>
          </p:cNvSpPr>
          <p:nvPr/>
        </p:nvSpPr>
        <p:spPr>
          <a:xfrm>
            <a:off x="372035" y="4125446"/>
            <a:ext cx="5302623" cy="4155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4. </a:t>
            </a:r>
            <a:r>
              <a:rPr lang="en-GB" sz="2000" dirty="0" err="1"/>
              <a:t>Wchodzi</a:t>
            </a:r>
            <a:r>
              <a:rPr lang="en-GB" sz="2000" dirty="0"/>
              <a:t> w </a:t>
            </a:r>
            <a:r>
              <a:rPr lang="en-GB" sz="2000" dirty="0" err="1"/>
              <a:t>moduł</a:t>
            </a:r>
            <a:r>
              <a:rPr lang="en-GB" sz="2000" dirty="0"/>
              <a:t> </a:t>
            </a:r>
            <a:r>
              <a:rPr lang="en-GB" sz="2000" dirty="0" err="1"/>
              <a:t>weryfikacji</a:t>
            </a:r>
            <a:r>
              <a:rPr lang="en-GB" sz="2000" dirty="0"/>
              <a:t> </a:t>
            </a:r>
            <a:r>
              <a:rPr lang="en-GB" sz="2000" dirty="0" err="1"/>
              <a:t>i</a:t>
            </a:r>
            <a:r>
              <a:rPr lang="en-GB" sz="2000" dirty="0"/>
              <a:t> </a:t>
            </a:r>
            <a:r>
              <a:rPr lang="en-GB" sz="2000" dirty="0" err="1"/>
              <a:t>skanuje</a:t>
            </a:r>
            <a:r>
              <a:rPr lang="en-GB" sz="2000" dirty="0"/>
              <a:t> </a:t>
            </a:r>
            <a:r>
              <a:rPr lang="en-GB" sz="2000" dirty="0" err="1"/>
              <a:t>kod</a:t>
            </a:r>
            <a:r>
              <a:rPr lang="en-GB" sz="2000" dirty="0"/>
              <a:t> QR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F8039F4-B03F-48DE-88FE-0303D4323454}"/>
              </a:ext>
            </a:extLst>
          </p:cNvPr>
          <p:cNvSpPr txBox="1">
            <a:spLocks/>
          </p:cNvSpPr>
          <p:nvPr/>
        </p:nvSpPr>
        <p:spPr>
          <a:xfrm>
            <a:off x="5818093" y="4008064"/>
            <a:ext cx="6131860" cy="650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/>
              <a:t>5. </a:t>
            </a:r>
            <a:r>
              <a:rPr lang="en-GB" sz="2000" dirty="0" err="1"/>
              <a:t>Użytkownik</a:t>
            </a:r>
            <a:r>
              <a:rPr lang="en-GB" sz="2000" dirty="0"/>
              <a:t> </a:t>
            </a:r>
            <a:r>
              <a:rPr lang="en-GB" sz="2000" dirty="0" err="1"/>
              <a:t>dostaje</a:t>
            </a:r>
            <a:r>
              <a:rPr lang="en-GB" sz="2000" dirty="0"/>
              <a:t> </a:t>
            </a:r>
            <a:r>
              <a:rPr lang="en-GB" sz="2000" dirty="0" err="1"/>
              <a:t>ostrzeżenie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stronie</a:t>
            </a:r>
            <a:r>
              <a:rPr lang="en-GB" sz="2000" dirty="0"/>
              <a:t> </a:t>
            </a:r>
            <a:r>
              <a:rPr lang="en-GB" sz="2000" dirty="0" err="1"/>
              <a:t>i</a:t>
            </a:r>
            <a:r>
              <a:rPr lang="en-GB" sz="2000" dirty="0"/>
              <a:t> w </a:t>
            </a:r>
            <a:r>
              <a:rPr lang="en-GB" sz="2000" dirty="0" err="1"/>
              <a:t>telefonie</a:t>
            </a:r>
            <a:r>
              <a:rPr lang="en-GB" sz="2000" dirty="0"/>
              <a:t> </a:t>
            </a:r>
            <a:r>
              <a:rPr lang="en-GB" sz="2000" dirty="0" err="1"/>
              <a:t>informujące</a:t>
            </a:r>
            <a:r>
              <a:rPr lang="en-GB" sz="2000" dirty="0"/>
              <a:t> o </a:t>
            </a:r>
            <a:r>
              <a:rPr lang="en-GB" sz="2000" dirty="0" err="1"/>
              <a:t>niebezpiecznej</a:t>
            </a:r>
            <a:r>
              <a:rPr lang="en-GB" sz="2000" dirty="0"/>
              <a:t> </a:t>
            </a:r>
            <a:r>
              <a:rPr lang="en-GB" sz="2000" dirty="0" err="1"/>
              <a:t>stronie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6694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169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Bahnschrift</vt:lpstr>
      <vt:lpstr>Calibri</vt:lpstr>
      <vt:lpstr>Calibri Light</vt:lpstr>
      <vt:lpstr>Office Theme</vt:lpstr>
      <vt:lpstr>autentyczneGOV 1.0</vt:lpstr>
      <vt:lpstr>Użyte technologie:</vt:lpstr>
      <vt:lpstr>Fałszywe strony = realne problemy</vt:lpstr>
      <vt:lpstr>Flow scenariusza pozytywnego</vt:lpstr>
      <vt:lpstr>Flow scenariusza negatywnego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autentyczneGOV 1.0</dc:title>
  <dc:creator>Microsoft Office</dc:creator>
  <cp:lastModifiedBy>Microsoft Office</cp:lastModifiedBy>
  <cp:revision>13</cp:revision>
  <dcterms:created xsi:type="dcterms:W3CDTF">2025-12-06T18:49:59Z</dcterms:created>
  <dcterms:modified xsi:type="dcterms:W3CDTF">2025-12-06T20:51:31Z</dcterms:modified>
</cp:coreProperties>
</file>